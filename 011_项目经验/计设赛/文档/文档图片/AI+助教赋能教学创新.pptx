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OPPOSans L" panose="02010600030101010101" charset="-122"/>
      <p:regular r:id="rId3"/>
    </p:embeddedFont>
    <p:embeddedFont>
      <p:font typeface="PangMenZhengDao" panose="02010600030101010101" charset="-122"/>
      <p:regular r:id="rId4"/>
    </p:embeddedFont>
    <p:embeddedFont>
      <p:font typeface="黑体" panose="02010609060101010101" pitchFamily="49" charset="-122"/>
      <p:regular r:id="rId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88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8">
            <a:alphaModFix/>
          </a:blip>
          <a:srcRect/>
          <a:stretch>
            <a:fillRect/>
          </a:stretch>
        </p:blipFill>
        <p:spPr>
          <a:xfrm>
            <a:off x="0" y="1874"/>
            <a:ext cx="12192000" cy="685425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-219826" y="-364950"/>
            <a:ext cx="4063584" cy="2608871"/>
          </a:xfrm>
          <a:custGeom>
            <a:avLst/>
            <a:gdLst>
              <a:gd name="connsiteX0" fmla="*/ 2851611 w 4063584"/>
              <a:gd name="connsiteY0" fmla="*/ 0 h 2608871"/>
              <a:gd name="connsiteX1" fmla="*/ 4063584 w 4063584"/>
              <a:gd name="connsiteY1" fmla="*/ 0 h 2608871"/>
              <a:gd name="connsiteX2" fmla="*/ 4060790 w 4063584"/>
              <a:gd name="connsiteY2" fmla="*/ 15643 h 2608871"/>
              <a:gd name="connsiteX3" fmla="*/ 879007 w 4063584"/>
              <a:gd name="connsiteY3" fmla="*/ 2608871 h 2608871"/>
              <a:gd name="connsiteX4" fmla="*/ 67340 w 4063584"/>
              <a:gd name="connsiteY4" fmla="*/ 2506623 h 2608871"/>
              <a:gd name="connsiteX5" fmla="*/ 0 w 4063584"/>
              <a:gd name="connsiteY5" fmla="*/ 2487501 h 2608871"/>
              <a:gd name="connsiteX6" fmla="*/ 0 w 4063584"/>
              <a:gd name="connsiteY6" fmla="*/ 1237528 h 2608871"/>
              <a:gd name="connsiteX7" fmla="*/ 71728 w 4063584"/>
              <a:gd name="connsiteY7" fmla="*/ 1272081 h 2608871"/>
              <a:gd name="connsiteX8" fmla="*/ 879006 w 4063584"/>
              <a:gd name="connsiteY8" fmla="*/ 1435063 h 2608871"/>
              <a:gd name="connsiteX9" fmla="*/ 2789982 w 4063584"/>
              <a:gd name="connsiteY9" fmla="*/ 168383 h 2608871"/>
              <a:gd name="connsiteX10" fmla="*/ 2851611 w 4063584"/>
              <a:gd name="connsiteY10" fmla="*/ 0 h 2608871"/>
            </a:gdLst>
            <a:ahLst/>
            <a:cxnLst/>
            <a:rect l="l" t="t" r="r" b="b"/>
            <a:pathLst>
              <a:path w="4063584" h="2608871">
                <a:moveTo>
                  <a:pt x="2851611" y="0"/>
                </a:moveTo>
                <a:lnTo>
                  <a:pt x="4063584" y="0"/>
                </a:lnTo>
                <a:lnTo>
                  <a:pt x="4060790" y="15643"/>
                </a:lnTo>
                <a:cubicBezTo>
                  <a:pt x="3757948" y="1495596"/>
                  <a:pt x="2448488" y="2608871"/>
                  <a:pt x="879007" y="2608871"/>
                </a:cubicBezTo>
                <a:cubicBezTo>
                  <a:pt x="598743" y="2608871"/>
                  <a:pt x="326770" y="2573371"/>
                  <a:pt x="67340" y="2506623"/>
                </a:cubicBezTo>
                <a:lnTo>
                  <a:pt x="0" y="2487501"/>
                </a:lnTo>
                <a:lnTo>
                  <a:pt x="0" y="1237528"/>
                </a:lnTo>
                <a:lnTo>
                  <a:pt x="71728" y="1272081"/>
                </a:lnTo>
                <a:cubicBezTo>
                  <a:pt x="319853" y="1377029"/>
                  <a:pt x="592652" y="1435063"/>
                  <a:pt x="879006" y="1435063"/>
                </a:cubicBezTo>
                <a:cubicBezTo>
                  <a:pt x="1738067" y="1435063"/>
                  <a:pt x="2475138" y="912758"/>
                  <a:pt x="2789982" y="168383"/>
                </a:cubicBezTo>
                <a:lnTo>
                  <a:pt x="2851611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19050" cap="sq">
            <a:solidFill>
              <a:schemeClr val="accent1">
                <a:lumMod val="20000"/>
                <a:lumOff val="80000"/>
                <a:alpha val="40000"/>
              </a:schemeClr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2058313" y="34597"/>
            <a:ext cx="10614443" cy="5956784"/>
          </a:xfrm>
          <a:prstGeom prst="roundRect">
            <a:avLst>
              <a:gd name="adj" fmla="val 7311"/>
            </a:avLst>
          </a:prstGeom>
          <a:gradFill>
            <a:gsLst>
              <a:gs pos="5000">
                <a:schemeClr val="bg1">
                  <a:alpha val="55000"/>
                </a:schemeClr>
              </a:gs>
              <a:gs pos="57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66505">
            <a:off x="8053503" y="-381836"/>
            <a:ext cx="3757104" cy="7981033"/>
          </a:xfrm>
          <a:custGeom>
            <a:avLst/>
            <a:gdLst>
              <a:gd name="connsiteX0" fmla="*/ 1157797 w 3757104"/>
              <a:gd name="connsiteY0" fmla="*/ 0 h 7409004"/>
              <a:gd name="connsiteX1" fmla="*/ 3316445 w 3757104"/>
              <a:gd name="connsiteY1" fmla="*/ 0 h 7409004"/>
              <a:gd name="connsiteX2" fmla="*/ 3376517 w 3757104"/>
              <a:gd name="connsiteY2" fmla="*/ 160322 h 7409004"/>
              <a:gd name="connsiteX3" fmla="*/ 3653782 w 3757104"/>
              <a:gd name="connsiteY3" fmla="*/ 3996745 h 7409004"/>
              <a:gd name="connsiteX4" fmla="*/ 2526787 w 3757104"/>
              <a:gd name="connsiteY4" fmla="*/ 7210390 h 7409004"/>
              <a:gd name="connsiteX5" fmla="*/ 2397793 w 3757104"/>
              <a:gd name="connsiteY5" fmla="*/ 7409004 h 7409004"/>
              <a:gd name="connsiteX6" fmla="*/ 573303 w 3757104"/>
              <a:gd name="connsiteY6" fmla="*/ 7409004 h 7409004"/>
              <a:gd name="connsiteX7" fmla="*/ 498379 w 3757104"/>
              <a:gd name="connsiteY7" fmla="*/ 7240642 h 7409004"/>
              <a:gd name="connsiteX8" fmla="*/ 103323 w 3757104"/>
              <a:gd name="connsiteY8" fmla="*/ 3089855 h 7409004"/>
              <a:gd name="connsiteX9" fmla="*/ 1072658 w 3757104"/>
              <a:gd name="connsiteY9" fmla="*/ 145324 h 7409004"/>
              <a:gd name="connsiteX10" fmla="*/ 1157797 w 3757104"/>
              <a:gd name="connsiteY10" fmla="*/ 0 h 7409004"/>
            </a:gdLst>
            <a:ahLst/>
            <a:cxnLst/>
            <a:rect l="l" t="t" r="r" b="b"/>
            <a:pathLst>
              <a:path w="3757104" h="7409004">
                <a:moveTo>
                  <a:pt x="1157797" y="0"/>
                </a:moveTo>
                <a:lnTo>
                  <a:pt x="3316445" y="0"/>
                </a:lnTo>
                <a:lnTo>
                  <a:pt x="3376517" y="160322"/>
                </a:lnTo>
                <a:cubicBezTo>
                  <a:pt x="3744559" y="1235648"/>
                  <a:pt x="3863972" y="2579012"/>
                  <a:pt x="3653782" y="3996745"/>
                </a:cubicBezTo>
                <a:cubicBezTo>
                  <a:pt x="3471009" y="5229558"/>
                  <a:pt x="3066045" y="6336244"/>
                  <a:pt x="2526787" y="7210390"/>
                </a:cubicBezTo>
                <a:lnTo>
                  <a:pt x="2397793" y="7409004"/>
                </a:lnTo>
                <a:lnTo>
                  <a:pt x="573303" y="7409004"/>
                </a:lnTo>
                <a:lnTo>
                  <a:pt x="498379" y="7240642"/>
                </a:lnTo>
                <a:cubicBezTo>
                  <a:pt x="39725" y="6118883"/>
                  <a:pt x="-127886" y="4649363"/>
                  <a:pt x="103323" y="3089855"/>
                </a:cubicBezTo>
                <a:cubicBezTo>
                  <a:pt x="267820" y="1980324"/>
                  <a:pt x="612290" y="972955"/>
                  <a:pt x="1072658" y="145324"/>
                </a:cubicBezTo>
                <a:lnTo>
                  <a:pt x="1157797" y="0"/>
                </a:lnTo>
                <a:close/>
              </a:path>
            </a:pathLst>
          </a:custGeom>
          <a:solidFill>
            <a:schemeClr val="bg1">
              <a:alpha val="24000"/>
            </a:schemeClr>
          </a:solidFill>
          <a:ln w="19050" cap="sq">
            <a:solidFill>
              <a:schemeClr val="bg1">
                <a:alpha val="73000"/>
              </a:schemeClr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514310" y="4298334"/>
            <a:ext cx="5080781" cy="2729170"/>
          </a:xfrm>
          <a:custGeom>
            <a:avLst/>
            <a:gdLst>
              <a:gd name="connsiteX0" fmla="*/ 4418405 w 5080781"/>
              <a:gd name="connsiteY0" fmla="*/ 0 h 2729170"/>
              <a:gd name="connsiteX1" fmla="*/ 4923650 w 5080781"/>
              <a:gd name="connsiteY1" fmla="*/ 25513 h 2729170"/>
              <a:gd name="connsiteX2" fmla="*/ 5080781 w 5080781"/>
              <a:gd name="connsiteY2" fmla="*/ 45480 h 2729170"/>
              <a:gd name="connsiteX3" fmla="*/ 5080781 w 5080781"/>
              <a:gd name="connsiteY3" fmla="*/ 1856880 h 2729170"/>
              <a:gd name="connsiteX4" fmla="*/ 5054364 w 5080781"/>
              <a:gd name="connsiteY4" fmla="*/ 1850087 h 2729170"/>
              <a:gd name="connsiteX5" fmla="*/ 4418405 w 5080781"/>
              <a:gd name="connsiteY5" fmla="*/ 1785977 h 2729170"/>
              <a:gd name="connsiteX6" fmla="*/ 2187074 w 5080781"/>
              <a:gd name="connsiteY6" fmla="*/ 2710225 h 2729170"/>
              <a:gd name="connsiteX7" fmla="*/ 2169856 w 5080781"/>
              <a:gd name="connsiteY7" fmla="*/ 2729170 h 2729170"/>
              <a:gd name="connsiteX8" fmla="*/ 0 w 5080781"/>
              <a:gd name="connsiteY8" fmla="*/ 2729170 h 2729170"/>
              <a:gd name="connsiteX9" fmla="*/ 73268 w 5080781"/>
              <a:gd name="connsiteY9" fmla="*/ 2586117 h 2729170"/>
              <a:gd name="connsiteX10" fmla="*/ 4418405 w 5080781"/>
              <a:gd name="connsiteY10" fmla="*/ 0 h 2729170"/>
            </a:gdLst>
            <a:ahLst/>
            <a:cxnLst/>
            <a:rect l="l" t="t" r="r" b="b"/>
            <a:pathLst>
              <a:path w="5080781" h="2729170">
                <a:moveTo>
                  <a:pt x="4418405" y="0"/>
                </a:moveTo>
                <a:cubicBezTo>
                  <a:pt x="4588977" y="0"/>
                  <a:pt x="4757530" y="8642"/>
                  <a:pt x="4923650" y="25513"/>
                </a:cubicBezTo>
                <a:lnTo>
                  <a:pt x="5080781" y="45480"/>
                </a:lnTo>
                <a:lnTo>
                  <a:pt x="5080781" y="1856880"/>
                </a:lnTo>
                <a:lnTo>
                  <a:pt x="5054364" y="1850087"/>
                </a:lnTo>
                <a:cubicBezTo>
                  <a:pt x="4848944" y="1808052"/>
                  <a:pt x="4636252" y="1785977"/>
                  <a:pt x="4418405" y="1785977"/>
                </a:cubicBezTo>
                <a:cubicBezTo>
                  <a:pt x="3547016" y="1785977"/>
                  <a:pt x="2758121" y="2139177"/>
                  <a:pt x="2187074" y="2710225"/>
                </a:cubicBezTo>
                <a:lnTo>
                  <a:pt x="2169856" y="2729170"/>
                </a:lnTo>
                <a:lnTo>
                  <a:pt x="0" y="2729170"/>
                </a:lnTo>
                <a:lnTo>
                  <a:pt x="73268" y="2586117"/>
                </a:lnTo>
                <a:cubicBezTo>
                  <a:pt x="910068" y="1045710"/>
                  <a:pt x="2542117" y="0"/>
                  <a:pt x="4418405" y="0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9050" cap="sq">
            <a:solidFill>
              <a:schemeClr val="accent1">
                <a:lumMod val="20000"/>
                <a:lumOff val="80000"/>
                <a:alpha val="40000"/>
              </a:schemeClr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343414" y="-685322"/>
            <a:ext cx="10617568" cy="8062666"/>
          </a:xfrm>
          <a:custGeom>
            <a:avLst/>
            <a:gdLst>
              <a:gd name="connsiteX0" fmla="*/ 8245345 w 10617568"/>
              <a:gd name="connsiteY0" fmla="*/ 0 h 8062666"/>
              <a:gd name="connsiteX1" fmla="*/ 10395659 w 10617568"/>
              <a:gd name="connsiteY1" fmla="*/ 0 h 8062666"/>
              <a:gd name="connsiteX2" fmla="*/ 10460728 w 10617568"/>
              <a:gd name="connsiteY2" fmla="*/ 219891 h 8062666"/>
              <a:gd name="connsiteX3" fmla="*/ 4872512 w 10617568"/>
              <a:gd name="connsiteY3" fmla="*/ 7766375 h 8062666"/>
              <a:gd name="connsiteX4" fmla="*/ 28733 w 10617568"/>
              <a:gd name="connsiteY4" fmla="*/ 7646683 h 8062666"/>
              <a:gd name="connsiteX5" fmla="*/ 0 w 10617568"/>
              <a:gd name="connsiteY5" fmla="*/ 7636129 h 8062666"/>
              <a:gd name="connsiteX6" fmla="*/ 0 w 10617568"/>
              <a:gd name="connsiteY6" fmla="*/ 5505189 h 8062666"/>
              <a:gd name="connsiteX7" fmla="*/ 26714 w 10617568"/>
              <a:gd name="connsiteY7" fmla="*/ 5519543 h 8062666"/>
              <a:gd name="connsiteX8" fmla="*/ 4370178 w 10617568"/>
              <a:gd name="connsiteY8" fmla="*/ 5849261 h 8062666"/>
              <a:gd name="connsiteX9" fmla="*/ 8543613 w 10617568"/>
              <a:gd name="connsiteY9" fmla="*/ 722225 h 8062666"/>
              <a:gd name="connsiteX10" fmla="*/ 8333519 w 10617568"/>
              <a:gd name="connsiteY10" fmla="*/ 163014 h 8062666"/>
              <a:gd name="connsiteX11" fmla="*/ 8245345 w 10617568"/>
              <a:gd name="connsiteY11" fmla="*/ 0 h 8062666"/>
            </a:gdLst>
            <a:ahLst/>
            <a:cxnLst/>
            <a:rect l="l" t="t" r="r" b="b"/>
            <a:pathLst>
              <a:path w="10617568" h="8062666">
                <a:moveTo>
                  <a:pt x="8245345" y="0"/>
                </a:moveTo>
                <a:lnTo>
                  <a:pt x="10395659" y="0"/>
                </a:lnTo>
                <a:lnTo>
                  <a:pt x="10460728" y="219891"/>
                </a:lnTo>
                <a:cubicBezTo>
                  <a:pt x="11284356" y="3363202"/>
                  <a:pt x="8782427" y="6741877"/>
                  <a:pt x="4872512" y="7766375"/>
                </a:cubicBezTo>
                <a:cubicBezTo>
                  <a:pt x="3161924" y="8214593"/>
                  <a:pt x="1465237" y="8137949"/>
                  <a:pt x="28733" y="7646683"/>
                </a:cubicBezTo>
                <a:lnTo>
                  <a:pt x="0" y="7636129"/>
                </a:lnTo>
                <a:lnTo>
                  <a:pt x="0" y="5505189"/>
                </a:lnTo>
                <a:lnTo>
                  <a:pt x="26714" y="5519543"/>
                </a:lnTo>
                <a:cubicBezTo>
                  <a:pt x="1193374" y="6110281"/>
                  <a:pt x="2766422" y="6269486"/>
                  <a:pt x="4370178" y="5849261"/>
                </a:cubicBezTo>
                <a:cubicBezTo>
                  <a:pt x="7221299" y="5102194"/>
                  <a:pt x="9089810" y="2806742"/>
                  <a:pt x="8543613" y="722225"/>
                </a:cubicBezTo>
                <a:cubicBezTo>
                  <a:pt x="8492407" y="526801"/>
                  <a:pt x="8421796" y="340170"/>
                  <a:pt x="8333519" y="163014"/>
                </a:cubicBezTo>
                <a:lnTo>
                  <a:pt x="8245345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20000"/>
            </a:schemeClr>
          </a:solidFill>
          <a:ln w="19050" cap="sq">
            <a:solidFill>
              <a:schemeClr val="bg1">
                <a:alpha val="30000"/>
              </a:schemeClr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0400" y="1179368"/>
            <a:ext cx="8763000" cy="40794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5800">
                <a:ln w="12700">
                  <a:noFill/>
                </a:ln>
                <a:gradFill>
                  <a:gsLst>
                    <a:gs pos="0">
                      <a:srgbClr val="AC1CDF">
                        <a:alpha val="100000"/>
                      </a:srgbClr>
                    </a:gs>
                    <a:gs pos="100000">
                      <a:srgbClr val="3B3BFF">
                        <a:alpha val="100000"/>
                      </a:srgbClr>
                    </a:gs>
                  </a:gsLst>
                  <a:lin ang="2400000" scaled="0"/>
                </a:gradFill>
                <a:latin typeface="PangMenZhengDao" panose="02010600030101010101" charset="-122"/>
                <a:ea typeface="PangMenZhengDao" panose="02010600030101010101" charset="-122"/>
                <a:cs typeface="PangMenZhengDao" panose="02010600030101010101" charset="-122"/>
              </a:rPr>
              <a:t>AI 助教赋能教学创新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69204" y="821639"/>
            <a:ext cx="1667448" cy="207061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1"/>
            </p:custDataLst>
          </p:nvPr>
        </p:nvSpPr>
        <p:spPr>
          <a:xfrm>
            <a:off x="1199515" y="5655310"/>
            <a:ext cx="2104390" cy="4000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rPr>
              <a:t>汇报人：</a:t>
            </a:r>
            <a:r>
              <a:rPr kumimoji="1" lang="zh-CN" altLang="en-US" sz="2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OPPOSans L" panose="00020600040101010101" charset="-122"/>
              </a:rPr>
              <a:t>孙景阳</a:t>
            </a:r>
          </a:p>
        </p:txBody>
      </p:sp>
      <p:sp>
        <p:nvSpPr>
          <p:cNvPr id="11" name="标题 1"/>
          <p:cNvSpPr txBox="1"/>
          <p:nvPr>
            <p:custDataLst>
              <p:tags r:id="rId2"/>
            </p:custDataLst>
          </p:nvPr>
        </p:nvSpPr>
        <p:spPr>
          <a:xfrm>
            <a:off x="769204" y="5631431"/>
            <a:ext cx="430273" cy="430273"/>
          </a:xfrm>
          <a:prstGeom prst="ellipse">
            <a:avLst/>
          </a:prstGeom>
          <a:noFill/>
          <a:ln w="19050" cap="sq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12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3"/>
            </p:custDataLst>
          </p:nvPr>
        </p:nvSpPr>
        <p:spPr>
          <a:xfrm>
            <a:off x="3359812" y="5631431"/>
            <a:ext cx="430273" cy="430273"/>
          </a:xfrm>
          <a:prstGeom prst="ellipse">
            <a:avLst/>
          </a:prstGeom>
          <a:noFill/>
          <a:ln w="19050" cap="sq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12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>
            <p:custDataLst>
              <p:tags r:id="rId4"/>
            </p:custDataLst>
          </p:nvPr>
        </p:nvSpPr>
        <p:spPr>
          <a:xfrm>
            <a:off x="3458459" y="5745849"/>
            <a:ext cx="232142" cy="214747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/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>
            <p:custDataLst>
              <p:tags r:id="rId5"/>
            </p:custDataLst>
          </p:nvPr>
        </p:nvSpPr>
        <p:spPr>
          <a:xfrm>
            <a:off x="887360" y="5722900"/>
            <a:ext cx="198245" cy="214747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9419875" y="2510361"/>
            <a:ext cx="857250" cy="857250"/>
          </a:xfrm>
          <a:prstGeom prst="ellipse">
            <a:avLst/>
          </a:prstGeom>
          <a:gradFill>
            <a:gsLst>
              <a:gs pos="3000">
                <a:schemeClr val="accent1"/>
              </a:gs>
              <a:gs pos="10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726691" y="6020563"/>
            <a:ext cx="430273" cy="430273"/>
          </a:xfrm>
          <a:prstGeom prst="ellipse">
            <a:avLst/>
          </a:prstGeom>
          <a:gradFill>
            <a:gsLst>
              <a:gs pos="3000">
                <a:schemeClr val="bg1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>
            <p:custDataLst>
              <p:tags r:id="rId6"/>
            </p:custDataLst>
          </p:nvPr>
        </p:nvSpPr>
        <p:spPr>
          <a:xfrm>
            <a:off x="3719792" y="5655414"/>
            <a:ext cx="2009013" cy="4001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rPr>
              <a:t>时间：</a:t>
            </a:r>
            <a:r>
              <a:rPr kumimoji="1" lang="en-US" altLang="zh-CN" sz="2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OPPOSans L" panose="00020600040101010101" charset="-122"/>
              </a:rPr>
              <a:t>2025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C473408-D576-97C3-14E1-C690AD19A4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689" y="-28379"/>
            <a:ext cx="7688206" cy="594211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37976377952755,&quot;left&quot;:60.56724409448818,&quot;top&quot;:442.9197637795275,&quot;width&quot;:405.469763779527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37976377952755,&quot;left&quot;:60.56724409448818,&quot;top&quot;:442.9197637795275,&quot;width&quot;:405.469763779527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37976377952755,&quot;left&quot;:60.56724409448818,&quot;top&quot;:442.9197637795275,&quot;width&quot;:405.469763779527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37976377952755,&quot;left&quot;:60.56724409448818,&quot;top&quot;:442.9197637795275,&quot;width&quot;:405.469763779527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37976377952755,&quot;left&quot;:60.56724409448818,&quot;top&quot;:442.9197637795275,&quot;width&quot;:405.469763779527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37976377952755,&quot;left&quot;:60.56724409448818,&quot;top&quot;:442.9197637795275,&quot;width&quot;:405.469763779527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AC1CDF"/>
      </a:accent1>
      <a:accent2>
        <a:srgbClr val="3B3BFF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9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PangMenZhengDao</vt:lpstr>
      <vt:lpstr>黑体</vt:lpstr>
      <vt:lpstr>OPPOSans 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1 1</cp:lastModifiedBy>
  <cp:revision>5</cp:revision>
  <dcterms:created xsi:type="dcterms:W3CDTF">2025-04-06T10:04:11Z</dcterms:created>
  <dcterms:modified xsi:type="dcterms:W3CDTF">2025-04-09T17:13:44Z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6F3FF6B428834281875A049D4C368A6E_12</vt:lpwstr>
  </property>
  <property fmtid="{D5CDD505-2E9C-101B-9397-08002B2CF9AE}" pid="3" name="KSOProductBuildVer">
    <vt:lpwstr>2052-12.1.0.20305</vt:lpwstr>
  </property>
</Properties>
</file>